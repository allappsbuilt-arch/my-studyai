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4A6A6"/>
                </a:solidFill>
                <a:latin typeface="Calibri"/>
              </a:rPr>
              <a:t>SEMINAR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Face Recognition System</a:t>
            </a:r>
          </a:p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Using Deep Learning and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Madhumita Kumari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Registration No. 2301289248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Guide: Mr. Chandan Kumar Panda, Assistant Professor, CSE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Department of Computer Science and Engineering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Trident Academy of Technology, Bhubaneswar  |  October 2026</a:t>
            </a:r>
          </a:p>
        </p:txBody>
      </p:sp>
      <p:sp>
        <p:nvSpPr>
          <p:cNvPr id="7" name="Oval 6"/>
          <p:cNvSpPr/>
          <p:nvPr/>
        </p:nvSpPr>
        <p:spPr>
          <a:xfrm>
            <a:off x="8138160" y="1463040"/>
            <a:ext cx="3383280" cy="3383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p0_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783080"/>
            <a:ext cx="3108960" cy="26406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What is face recognition?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B6475"/>
                </a:solidFill>
                <a:latin typeface="Calibri"/>
              </a:rPr>
              <a:t>A biometric technique that identifies or verifies a person from the visual characteristics of the face, using an ordinary camera and no physical contact.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926079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92607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9260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Locates faces and landmarks in an image. A prerequisite for recognition, but not recognition itself.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65176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36007" y="2926079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7" y="292607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57600"/>
            <a:ext cx="29260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One-to-one comparison: do these two images show the same person?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265176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48472" y="2926079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92607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3657600"/>
            <a:ext cx="29260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One-to-many search: who is this among all enrolled identities?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Manual identity checks are slow and inconsistent, and passwords or cards can be lost, shared or stolen. A vision pipeline can recognize faces automatically, but appearance-based matching has inherent error rates and ethical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52120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Describe an end-to-end recognition workflow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Explain detection, alignment and embedding extraction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Compare a classical baseline with deep learning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Evaluate with FAR, FRR and accuracy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Identify limitations that affect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The recognition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CADCFC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474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Image or video 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10312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BD0D0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474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Find face and landmarks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0312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CADCFC"/>
                </a:solidFill>
                <a:latin typeface="Cambr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Align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474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Rotate, scale, crop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10312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BD0D0"/>
                </a:solidFill>
                <a:latin typeface="Cambr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Embed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474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Neural network gives a vector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0312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CADCFC"/>
                </a:solidFill>
                <a:latin typeface="Cambr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474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Compare with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B6475"/>
                </a:solidFill>
                <a:latin typeface="Calibri"/>
              </a:rPr>
              <a:t>Output: a verified or rejected status, or an identity label, with a similarity score. Borderline and high-impact cases go to a human reviewer.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How a face becomes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11679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11679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Preprocess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548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Resize, normalize and equalize the image so lighting and size do not dominate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3736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9672" y="2011679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2011679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Learn features with a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743200"/>
            <a:ext cx="47548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Filters build from edges and textures to facial parts and identity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2976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47548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 fixed-length vector. The same person lies close together; different people lie far apart.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402336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9672" y="429768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42976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Similarity and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5029200"/>
            <a:ext cx="47548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Cosine or Euclidean distance, compared with a threshold, gives match or non-match.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Classical versus deep learning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429768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965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559"/>
                </a:solidFill>
                <a:latin typeface="Cambria"/>
              </a:rPr>
              <a:t>Classical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5176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Viola–Jones detector (Haar features)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Eigenfaces (PCA)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Local Binary Patterns (texture)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Simple, fast, good baselines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Weak under pose, expression and lighting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37360"/>
            <a:ext cx="5303520" cy="4297680"/>
          </a:xfrm>
          <a:prstGeom prst="roundRect">
            <a:avLst>
              <a:gd name="adj" fmla="val 4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965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559"/>
                </a:solidFill>
                <a:latin typeface="Cambria"/>
              </a:rPr>
              <a:t>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65176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MTCNN and RetinaFace detectors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DeepFace, FaceNet, ArcFace embeddings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Learned features from large datasets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Robust to pose, lighting and expression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600">
                <a:solidFill>
                  <a:srgbClr val="1F2937"/>
                </a:solidFill>
                <a:latin typeface="Calibri"/>
              </a:rPr>
              <a:t>Needs more data and computation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Data collection and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669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Datasets: LFW for benchmarks; VGGFace2, MS-Celeb-1M and CASIA-WebFace for training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Check licences and record exact versions and splits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Clean noisy identity labels, duplicates and blurred faces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Align, resize and augment (flip, small rotation, brightness)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Split by identity so no person appears in both train and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37360"/>
            <a:ext cx="4663440" cy="4297680"/>
          </a:xfrm>
          <a:prstGeom prst="roundRect">
            <a:avLst>
              <a:gd name="adj" fmla="val 5000"/>
            </a:avLst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0116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4A6A6"/>
                </a:solidFill>
                <a:latin typeface="Calibri"/>
              </a:rPr>
              <a:t>WATCH FOR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560320"/>
            <a:ext cx="39319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Age, gender, skin tone and region in the training data affect how well the model works for each group. A high overall score does not guarantee equal error rates for everyone.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Model design: FaceNet and ArcFace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840480" cy="4297680"/>
          </a:xfrm>
          <a:prstGeom prst="roundRect">
            <a:avLst>
              <a:gd name="adj" fmla="val 5000"/>
            </a:avLst>
          </a:prstGeom>
          <a:solidFill>
            <a:srgbClr val="1B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99.63%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FaceNet accuracy on LFW, as reported in its original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F4A6A6"/>
                </a:solidFill>
                <a:latin typeface="Calibri"/>
              </a:rPr>
              <a:t>Depends on that paper's data and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65836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Backbones: ResNet, MobileNet, Inception; lightweight ones suit mobile devices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FaceNet: 128-dimensional embedding trained with triplet loss (anchor, positive, negative)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ArcFace: additive angular margin separates identities more sharply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Similarity is not a calibrated probability: choose the threshold on validation data for a target false acceptance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Tools and system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74720" cy="28346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7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9260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Python, OpenCV, dlib, TensorFlow or PyTorch, InsightFace, face_recognition, DeepFace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737360"/>
            <a:ext cx="3474720" cy="28346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201167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743200"/>
            <a:ext cx="29260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Detected face region, verified/rejected or identity label, and a similarity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737360"/>
            <a:ext cx="3474720" cy="28346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01167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743200"/>
            <a:ext cx="29260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Logging, access control, drift monitoring, encrypted templates, short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B6475"/>
                </a:solidFill>
                <a:latin typeface="Calibri"/>
              </a:rPr>
              <a:t>A leaked face template cannot be replaced like a password, so templates are stored encrypted and raw images are kept only as long as necessary.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00000"/>
                </a:solidFill>
                <a:latin typeface="Cambria"/>
              </a:rPr>
              <a:t>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False Acceptance Rate: impostors wrongly accepted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00000"/>
                </a:solidFill>
                <a:latin typeface="Cambria"/>
              </a:rPr>
              <a:t>FRR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False Rejection Rate: genuine users wrongly rejected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00000"/>
                </a:solidFill>
                <a:latin typeface="Cambria"/>
              </a:rPr>
              <a:t>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01752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Equal Error Rate: the point where FAR equals FRR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73736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39" y="201168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00000"/>
                </a:solidFill>
                <a:latin typeface="Cambria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301752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Curve showing the trade-off across thresholds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B6475"/>
                </a:solidFill>
                <a:latin typeface="Calibri"/>
              </a:rPr>
              <a:t>Published deep models report around 99% on LFW, but LFW is relatively easy and mostly frontal. These are literature claims, not guarantees; test with data from the intended camera and population, and on harder sets such as IJB-C.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Benefits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429768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965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559"/>
                </a:solidFill>
                <a:latin typeface="Cambria"/>
              </a:rP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5176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Contactless, fast and convenient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Replaces manual attendance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Reduces credential sharing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Stronger access control with liveness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37360"/>
            <a:ext cx="5303520" cy="4297680"/>
          </a:xfrm>
          <a:prstGeom prst="roundRect">
            <a:avLst>
              <a:gd name="adj" fmla="val 4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965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C00000"/>
                </a:solidFill>
                <a:latin typeface="Cambria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65176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Higher errors for some demographic groups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Photos, replays and masks can spoof it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Poor light, pose and occlusion lower accuracy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1F2937"/>
                </a:solidFill>
                <a:latin typeface="Calibri"/>
              </a:rPr>
              <a:t>Heavy compute on small devices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CHAPTER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Privacy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11679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1167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Consent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79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Collect face data only with informed consent and a stated purpose.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3736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36007" y="2011679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7" y="201167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743200"/>
            <a:ext cx="2926079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Encrypt templates, minimize retention and follow data protection law.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73736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48472" y="2011679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201167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559"/>
                </a:solidFill>
                <a:latin typeface="Cambria"/>
              </a:rPr>
              <a:t>Human oversight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743200"/>
            <a:ext cx="2926079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Treat the system as a decision aid; allow appeal, correction and audit.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4A6A6"/>
                </a:solidFill>
                <a:latin typeface="Calibri"/>
              </a:rPr>
              <a:t>CHAPTER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4A6A6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Detect, align, embed and match. Classical methods give a baseline; deep embeddings give far stronger robustness. Benchmark figures come from published sources and must be validated under real deployment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4A6A6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Robust liveness detection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Masked and low-resolution faces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3D or infrared sensing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Efficient edge-device models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700">
                <a:solidFill>
                  <a:srgbClr val="FFFFFF"/>
                </a:solidFill>
                <a:latin typeface="Calibri"/>
              </a:rPr>
              <a:t>On-device matching and federated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559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475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900"/>
              </a:spcAft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Viola and Jones, Rapid Object Detection Using a Boosted Cascade of Simple Features, CVPR 2001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Turk and Pentland, Eigenfaces for Recognition, Journal of Cognitive Neuroscience, 1991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Taigman et al., DeepFace, CVPR 2014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Schroff, Kalenichenko and Philbin, FaceNet, CVPR 2015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Deng, Guo, Xue and Zafeiriou, ArcFace, CVPR 2019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Huang et al., Labeled Faces in the Wild, UMass Amherst TR 07-49, 2007</a:t>
            </a:r>
          </a:p>
          <a:p>
            <a:pPr marL="285750" indent="-285750">
              <a:spcAft>
                <a:spcPts val="900"/>
              </a:spcAft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Buolamwini and Gebru, Gender Shades, FAT*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00000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